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TNC-BOT: TERMS &amp; CONDITIONS INTERPRETER</a:t>
            </a:r>
          </a:p>
          <a:p>
            <a:pPr>
              <a:spcBef>
                <a:spcPts val="1400"/>
              </a:spcBef>
              <a:defRPr sz="2200" i="1">
                <a:solidFill>
                  <a:srgbClr val="A78BFA"/>
                </a:solidFill>
                <a:latin typeface="Arial"/>
              </a:defRPr>
            </a:pPr>
            <a:r>
              <a:t>RAG-Grounded Assistant &amp; Chrome Floating Extension</a:t>
            </a:r>
          </a:p>
          <a:p>
            <a:pPr>
              <a:spcBef>
                <a:spcPts val="5000"/>
              </a:spcBef>
              <a:defRPr sz="1400">
                <a:solidFill>
                  <a:srgbClr val="D1D5DB"/>
                </a:solidFill>
                <a:latin typeface="Arial"/>
              </a:defRPr>
            </a:pPr>
            <a:r>
              <a:t>Platform: FastAPI, React, SQLite, PyMuPDF, OCR &amp; Chrome API</a:t>
            </a:r>
          </a:p>
        </p:txBody>
      </p:sp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PROBLEM STATEMENT &amp; CONTEXT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Legalese Complexity: </a:t>
            </a:r>
            <a:r>
              <a:rPr sz="1600">
                <a:solidFill>
                  <a:srgbClr val="D1D5DB"/>
                </a:solidFill>
                <a:latin typeface="Arial"/>
              </a:rPr>
              <a:t>Terms of Service and Privacy Agreements are intentionally long, dense, and written in obfuscated legal terms.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Rights Vulnerability: </a:t>
            </a:r>
            <a:r>
              <a:rPr sz="1600">
                <a:solidFill>
                  <a:srgbClr val="D1D5DB"/>
                </a:solidFill>
                <a:latin typeface="Arial"/>
              </a:rPr>
              <a:t>Users blindly sign away crucial rights regarding private data ownership, session telemetry, and generative AI model training consent.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Limitations of Existing Tools: </a:t>
            </a:r>
            <a:r>
              <a:rPr sz="1600">
                <a:solidFill>
                  <a:srgbClr val="D1D5DB"/>
                </a:solidFill>
                <a:latin typeface="Arial"/>
              </a:rPr>
              <a:t>Static regex browser plugins only search keywords, failing to support custom uploaded PDF/image contracts or dynamic Q&amp;A.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Need for Automation: </a:t>
            </a:r>
            <a:r>
              <a:rPr sz="1600">
                <a:solidFill>
                  <a:srgbClr val="D1D5DB"/>
                </a:solidFill>
                <a:latin typeface="Arial"/>
              </a:rPr>
              <a:t>Requires a local intelligence layer to extract key topics, translate chosen paragraphs, and answer queries grounded in the agreement text.</a:t>
            </a:r>
          </a:p>
        </p:txBody>
      </p:sp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PROPOSED SOLUTION &amp; SCOPE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Automated PDF &amp; OCR: 
</a:t>
            </a:r>
            <a:r>
              <a:rPr sz="1400">
                <a:solidFill>
                  <a:srgbClr val="D1D5DB"/>
                </a:solidFill>
                <a:latin typeface="Arial"/>
              </a:rPr>
              <a:t>Fast text ingestion via PyMuPDF. Scanned image agreements fallback to Tesseract OCR.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Structured Extraction: 
</a:t>
            </a:r>
            <a:r>
              <a:rPr sz="1400">
                <a:solidFill>
                  <a:srgbClr val="D1D5DB"/>
                </a:solidFill>
                <a:latin typeface="Arial"/>
              </a:rPr>
              <a:t>Enforces strict Pydantic schemas to extract summaries and topic-based clauses.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Local Vector Index: 
</a:t>
            </a:r>
            <a:r>
              <a:rPr sz="1400">
                <a:solidFill>
                  <a:srgbClr val="D1D5DB"/>
                </a:solidFill>
                <a:latin typeface="Arial"/>
              </a:rPr>
              <a:t>Partitions contracts into overlapping chunks and stores embeddings in SQLite.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Grounded Chat Bot: 
</a:t>
            </a:r>
            <a:r>
              <a:rPr sz="1400">
                <a:solidFill>
                  <a:srgbClr val="D1D5DB"/>
                </a:solidFill>
                <a:latin typeface="Arial"/>
              </a:rPr>
              <a:t>Queries vector index to inject relevant context paragraphs with citations.</a:t>
            </a:r>
          </a:p>
        </p:txBody>
      </p:sp>
      <p:pic>
        <p:nvPicPr>
          <p:cNvPr id="4" name="!!RightImageColumn" descr="tnc_bo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840480"/>
          </a:xfrm>
          <a:prstGeom prst="rect">
            <a:avLst/>
          </a:prstGeom>
        </p:spPr>
      </p:pic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SYSTEM ARCHITECTURE FLOW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Client UI Layers: 
</a:t>
            </a:r>
            <a:r>
              <a:rPr sz="1400">
                <a:solidFill>
                  <a:srgbClr val="D1D5DB"/>
                </a:solidFill>
                <a:latin typeface="Arial"/>
              </a:rPr>
              <a:t>Chrome browser content script scraper captures text. React SPA shows side-by-side layouts.</a:t>
            </a:r>
          </a:p>
          <a:p>
            <a:pPr>
              <a:spcAft>
                <a:spcPts val="2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FastAPI Gateway: 
</a:t>
            </a:r>
            <a:r>
              <a:rPr sz="1400">
                <a:solidFill>
                  <a:srgbClr val="D1D5DB"/>
                </a:solidFill>
                <a:latin typeface="Arial"/>
              </a:rPr>
              <a:t>FastAPI backend handles document ingestion endpoints and chat retrieval queries.</a:t>
            </a:r>
          </a:p>
          <a:p>
            <a:pPr>
              <a:spcAft>
                <a:spcPts val="2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•  SQLite &amp; Vector DB: 
</a:t>
            </a:r>
            <a:r>
              <a:rPr sz="1400">
                <a:solidFill>
                  <a:srgbClr val="D1D5DB"/>
                </a:solidFill>
                <a:latin typeface="Arial"/>
              </a:rPr>
              <a:t>Stores embeddings coordinates and cached JSON summary records locally.</a:t>
            </a:r>
          </a:p>
        </p:txBody>
      </p:sp>
      <p:pic>
        <p:nvPicPr>
          <p:cNvPr id="4" name="!!RightImageColumn" descr="tnc_bo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DETAILED IMPLEMENTATION PIPELINE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Step 1-2: Ingestion &amp; Chunks: 
</a:t>
            </a:r>
            <a:r>
              <a:rPr sz="1400">
                <a:solidFill>
                  <a:srgbClr val="D1D5DB"/>
                </a:solidFill>
                <a:latin typeface="Arial"/>
              </a:rPr>
              <a:t>Extracts text from PDF/OCR. Partitions into 1000-char blocks.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Step 3: SQLite Embeddings: 
</a:t>
            </a:r>
            <a:r>
              <a:rPr sz="1400">
                <a:solidFill>
                  <a:srgbClr val="D1D5DB"/>
                </a:solidFill>
                <a:latin typeface="Arial"/>
              </a:rPr>
              <a:t>Generates vectors for similarity mapping with Jaccard fallbacks.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Step 4-5: LLM Summarization: 
</a:t>
            </a:r>
            <a:r>
              <a:rPr sz="1400">
                <a:solidFill>
                  <a:srgbClr val="D1D5DB"/>
                </a:solidFill>
                <a:latin typeface="Arial"/>
              </a:rPr>
              <a:t>LLM extracts summary &amp; key clauses. Custom translators map styles.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A78BFA"/>
                </a:solidFill>
                <a:latin typeface="Arial"/>
              </a:rPr>
              <a:t>Step 6-7: RAG Chat &amp; Extension: 
</a:t>
            </a:r>
            <a:r>
              <a:rPr sz="1400">
                <a:solidFill>
                  <a:srgbClr val="D1D5DB"/>
                </a:solidFill>
                <a:latin typeface="Arial"/>
              </a:rPr>
              <a:t>Grounded assistant streams chat. Scrapers inject floating popup panels.</a:t>
            </a:r>
          </a:p>
        </p:txBody>
      </p:sp>
      <p:pic>
        <p:nvPicPr>
          <p:cNvPr id="4" name="!!RightImageColumn" descr="tnc_bot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QUALITY VERIFICATION &amp; TEST SUITE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A78BFA"/>
                </a:solidFill>
                <a:latin typeface="Arial"/>
              </a:rPr>
              <a:t>✔  PDF &amp; OCR Extraction   </a:t>
            </a:r>
            <a:r>
              <a:rPr sz="1300" b="1">
                <a:solidFill>
                  <a:srgbClr val="10B981"/>
                </a:solidFill>
                <a:latin typeface="Arial"/>
              </a:rPr>
              <a:t>[PASSED]
</a:t>
            </a:r>
            <a:r>
              <a:rPr sz="1300">
                <a:solidFill>
                  <a:srgbClr val="D1D5DB"/>
                </a:solidFill>
                <a:latin typeface="Arial"/>
              </a:rPr>
              <a:t>Digital layouts parsed. Scan files run OCR fallbacks successfully.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A78BFA"/>
                </a:solidFill>
                <a:latin typeface="Arial"/>
              </a:rPr>
              <a:t>✔  JSON Completions   </a:t>
            </a:r>
            <a:r>
              <a:rPr sz="1300" b="1">
                <a:solidFill>
                  <a:srgbClr val="10B981"/>
                </a:solidFill>
                <a:latin typeface="Arial"/>
              </a:rPr>
              <a:t>[PASSED]
</a:t>
            </a:r>
            <a:r>
              <a:rPr sz="1300">
                <a:solidFill>
                  <a:srgbClr val="D1D5DB"/>
                </a:solidFill>
                <a:latin typeface="Arial"/>
              </a:rPr>
              <a:t>Parses summaries and categorized clauses into UI structures.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A78BFA"/>
                </a:solidFill>
                <a:latin typeface="Arial"/>
              </a:rPr>
              <a:t>✔  Explanation Translators   </a:t>
            </a:r>
            <a:r>
              <a:rPr sz="1300" b="1">
                <a:solidFill>
                  <a:srgbClr val="10B981"/>
                </a:solidFill>
                <a:latin typeface="Arial"/>
              </a:rPr>
              <a:t>[PASSED]
</a:t>
            </a:r>
            <a:r>
              <a:rPr sz="1300">
                <a:solidFill>
                  <a:srgbClr val="D1D5DB"/>
                </a:solidFill>
                <a:latin typeface="Arial"/>
              </a:rPr>
              <a:t>Transforms legal terms to Teen analogies.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A78BFA"/>
                </a:solidFill>
                <a:latin typeface="Arial"/>
              </a:rPr>
              <a:t>✔  Grounded Chat Streaming   </a:t>
            </a:r>
            <a:r>
              <a:rPr sz="1300" b="1">
                <a:solidFill>
                  <a:srgbClr val="10B981"/>
                </a:solidFill>
                <a:latin typeface="Arial"/>
              </a:rPr>
              <a:t>[PASSED]
</a:t>
            </a:r>
            <a:r>
              <a:rPr sz="1300">
                <a:solidFill>
                  <a:srgbClr val="D1D5DB"/>
                </a:solidFill>
                <a:latin typeface="Arial"/>
              </a:rPr>
              <a:t>Queries retrieve DB context blocks with citations.</a:t>
            </a:r>
          </a:p>
        </p:txBody>
      </p:sp>
      <p:pic>
        <p:nvPicPr>
          <p:cNvPr id="4" name="!!RightImageColumn" descr="tnc_bo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lideTitle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CONCLUSION &amp; FUTURE ROADMAP</a:t>
            </a:r>
          </a:p>
        </p:txBody>
      </p:sp>
      <p:sp>
        <p:nvSpPr>
          <p:cNvPr id="3" name="!!LeftContentColumn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Deployment Verification: </a:t>
            </a:r>
            <a:r>
              <a:rPr sz="1600">
                <a:solidFill>
                  <a:srgbClr val="D1D5DB"/>
                </a:solidFill>
                <a:latin typeface="Arial"/>
              </a:rPr>
              <a:t>Successfully deployed a fully functional FastAPI / SQLite vector database backend combined with React single-page workspaces and Chrome overlay panels.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Resilience &amp; Fallbacks: </a:t>
            </a:r>
            <a:r>
              <a:rPr sz="1600">
                <a:solidFill>
                  <a:srgbClr val="D1D5DB"/>
                </a:solidFill>
                <a:latin typeface="Arial"/>
              </a:rPr>
              <a:t>The inclusion of image OCR steps and keyword overlap indexes (Jaccard) ensures operational fallback reliability when api keys or network links are disabled.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Milestone 3 (Future Scope): </a:t>
            </a:r>
            <a:r>
              <a:rPr sz="1600">
                <a:solidFill>
                  <a:srgbClr val="D1D5DB"/>
                </a:solidFill>
                <a:latin typeface="Arial"/>
              </a:rPr>
              <a:t>Multi-agreement policy comparison tools. Auditing policy change history and showing visual highlights of document modifications over version histories.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A78BFA"/>
                </a:solidFill>
                <a:latin typeface="Arial"/>
              </a:rPr>
              <a:t>•  Milestone 4 (Future Scope): </a:t>
            </a:r>
            <a:r>
              <a:rPr sz="1600">
                <a:solidFill>
                  <a:srgbClr val="D1D5DB"/>
                </a:solidFill>
                <a:latin typeface="Arial"/>
              </a:rPr>
              <a:t>Automated consent opt-out scripts. Injecting scrapers that auto-submit cookie restrictions and calculating numeric legal risk score weights.</a:t>
            </a:r>
          </a:p>
        </p:txBody>
      </p:sp>
    </p:spTree>
  </p:cSld>
  <p:clrMapOvr>
    <a:masterClrMapping/>
  </p:clrMapOvr>
  <p:transition>
    <p:extLst>
      <p:ext uri="{E31A27D2-FEB2-44E9-A1C8-124E9D021966}">
        <p14:morph xmlns:p14="http://schemas.microsoft.com/office/powerpoint/2015/09/main" option="byObject"/>
      </p:ext>
    </p:extLst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